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6400800" cy="6400800"/>
          </a:xfrm>
          <a:prstGeom prst="ellipse">
            <a:avLst/>
          </a:prstGeom>
          <a:solidFill>
            <a:srgbClr val="4F7CFF">
              <a:alpha val="12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828800" y="4572000"/>
            <a:ext cx="5486400" cy="5486400"/>
          </a:xfrm>
          <a:prstGeom prst="ellipse">
            <a:avLst/>
          </a:prstGeom>
          <a:solidFill>
            <a:srgbClr val="A875FF">
              <a:alpha val="12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8640" y="50292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4F7CF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70432" y="5303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70432" y="7955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1A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INTELLIGENCE PLATFORM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Learning-Based Buyer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 &amp; Investment Profiling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Estate Market Intelligence for Parcl Co. Limited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58368" y="4251960"/>
            <a:ext cx="1280160" cy="0"/>
          </a:xfrm>
          <a:prstGeom prst="line">
            <a:avLst/>
          </a:prstGeom>
          <a:noFill/>
          <a:ln w="38100">
            <a:solidFill>
              <a:srgbClr val="4F7C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4434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1A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Mentor Program   |   Unsupervised ML: K-Means + Hierarchical Clustering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5623560"/>
            <a:ext cx="2514600" cy="502920"/>
          </a:xfrm>
          <a:prstGeom prst="roundRect">
            <a:avLst>
              <a:gd name="adj" fmla="val 50909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56235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Clients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37560" y="5623560"/>
            <a:ext cx="2514600" cy="502920"/>
          </a:xfrm>
          <a:prstGeom prst="roundRect">
            <a:avLst>
              <a:gd name="adj" fmla="val 50909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337560" y="56235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Transactions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5623560"/>
            <a:ext cx="2514600" cy="502920"/>
          </a:xfrm>
          <a:prstGeom prst="roundRect">
            <a:avLst>
              <a:gd name="adj" fmla="val 50909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035040" y="56235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Data-Derived Segments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732520" y="5623560"/>
            <a:ext cx="2514600" cy="502920"/>
          </a:xfrm>
          <a:prstGeom prst="roundRect">
            <a:avLst>
              <a:gd name="adj" fmla="val 50909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732520" y="56235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7-Page Live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Parcl Treats All Buyers the Same — And It's Costing Them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1A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estate buyers span individual home buyers to institutional investors, with no data-driven way to tell them apart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005840" cy="0"/>
          </a:xfrm>
          <a:prstGeom prst="line">
            <a:avLst/>
          </a:prstGeom>
          <a:noFill/>
          <a:ln w="31750">
            <a:solidFill>
              <a:srgbClr val="4F7CF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1920240"/>
            <a:ext cx="6400800" cy="4206240"/>
          </a:xfrm>
          <a:prstGeom prst="roundRect">
            <a:avLst>
              <a:gd name="adj" fmla="val 1957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21945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segmentation, this leads to: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2743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D203D"/>
          </a:solidFill>
          <a:ln w="19050">
            <a:solidFill>
              <a:srgbClr val="FFB34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6868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B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7889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Inefficient marketing spend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37490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D203D"/>
          </a:solidFill>
          <a:ln w="19050">
            <a:solidFill>
              <a:srgbClr val="F05C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6868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37947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property recommendations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47548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D203D"/>
          </a:solidFill>
          <a:ln w="19050">
            <a:solidFill>
              <a:srgbClr val="A875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6868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7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4800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investor targeting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223760" y="1920240"/>
            <a:ext cx="4389120" cy="4206240"/>
          </a:xfrm>
          <a:prstGeom prst="roundRect">
            <a:avLst>
              <a:gd name="adj" fmla="val 1957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223760" y="1920240"/>
            <a:ext cx="73152" cy="4206240"/>
          </a:xfrm>
          <a:prstGeom prst="rect">
            <a:avLst/>
          </a:prstGeom>
          <a:solidFill>
            <a:srgbClr val="20D9FF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543800" y="2194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543800" y="265176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unsupervised machine learning to discover the buyer segments that actually exist in Parcl's data — not the ones we assume exist — and turn them into an actionable, evidence-based targeting framework.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AUDIT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Actually Found in the Files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1A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the schema assumed in the brief — the schema verified in the raw data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005840" cy="0"/>
          </a:xfrm>
          <a:prstGeom prst="line">
            <a:avLst/>
          </a:prstGeom>
          <a:noFill/>
          <a:ln w="31750">
            <a:solidFill>
              <a:srgbClr val="4F7CF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1874520"/>
            <a:ext cx="2606040" cy="1234440"/>
          </a:xfrm>
          <a:prstGeom prst="roundRect">
            <a:avLst>
              <a:gd name="adj" fmla="val 6667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20116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4F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7560" y="1874520"/>
            <a:ext cx="2606040" cy="1234440"/>
          </a:xfrm>
          <a:prstGeom prst="roundRect">
            <a:avLst>
              <a:gd name="adj" fmla="val 6667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337560" y="20116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337560" y="2651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0D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LISTINGS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1874520"/>
            <a:ext cx="2606040" cy="1234440"/>
          </a:xfrm>
          <a:prstGeom prst="roundRect">
            <a:avLst>
              <a:gd name="adj" fmla="val 6667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126480" y="20116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7,305 / 2,695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126480" y="2651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B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SOLD / AVAILABLE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915400" y="1874520"/>
            <a:ext cx="2606040" cy="1234440"/>
          </a:xfrm>
          <a:prstGeom prst="roundRect">
            <a:avLst>
              <a:gd name="adj" fmla="val 6667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15400" y="20116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: Many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8915400" y="2651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0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→ PROPERTY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3337560"/>
            <a:ext cx="11064240" cy="2743200"/>
          </a:xfrm>
          <a:prstGeom prst="roundRect">
            <a:avLst>
              <a:gd name="adj" fmla="val 3000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68680" y="356616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structural finding:  </a:t>
            </a:r>
            <a:pPr indent="0" marL="0">
              <a:spcAft>
                <a:spcPts val="1400"/>
              </a:spcAft>
              <a:buNone/>
            </a:pPr>
            <a:r>
              <a:rPr lang="en-US" sz="1450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client bought 3+ properties (one bought 13). A naive merge would duplicate each client's demographic row once per purchase and corrupt any clustering built on it.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messiness handled, not assumed away: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350" dirty="0">
                <a:solidFill>
                  <a:srgbClr val="91A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date_of_birth mixes DD-MM-YYYY and MM/DD/YYYY formats in the same column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350" dirty="0">
                <a:solidFill>
                  <a:srgbClr val="91A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sale_price stored as currency strings ("$300,385.62")</a:t>
            </a:r>
            <a:endParaRPr lang="en-US" sz="1450" dirty="0"/>
          </a:p>
          <a:p>
            <a:pPr marL="342900" indent="-342900">
              <a:buSzPct val="100000"/>
              <a:buChar char="▸"/>
            </a:pPr>
            <a:r>
              <a:rPr lang="en-US" sz="1350" dirty="0">
                <a:solidFill>
                  <a:srgbClr val="91A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acquisition_purpose values are Home/Investment — not "Personal use" as the brief described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Five-Stage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1A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→ Feature engineering → Clustering → Validation → Robustness testing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005840" cy="0"/>
          </a:xfrm>
          <a:prstGeom prst="line">
            <a:avLst/>
          </a:prstGeom>
          <a:noFill/>
          <a:ln w="31750">
            <a:solidFill>
              <a:srgbClr val="4F7CF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1920240"/>
            <a:ext cx="2103120" cy="4114800"/>
          </a:xfrm>
          <a:prstGeom prst="roundRect">
            <a:avLst>
              <a:gd name="adj" fmla="val 3913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85800" y="2103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85800" y="2788920"/>
            <a:ext cx="1645920" cy="0"/>
          </a:xfrm>
          <a:prstGeom prst="line">
            <a:avLst/>
          </a:prstGeom>
          <a:noFill/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5800" y="2926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&amp; Aggregate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85800" y="3520440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1A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dates/currency; aggregate 10K transactions to one behavioral row per client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88920" y="1920240"/>
            <a:ext cx="2103120" cy="4114800"/>
          </a:xfrm>
          <a:prstGeom prst="roundRect">
            <a:avLst>
              <a:gd name="adj" fmla="val 3913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926080" y="2103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2926080" y="2788920"/>
            <a:ext cx="1645920" cy="0"/>
          </a:xfrm>
          <a:prstGeom prst="line">
            <a:avLst/>
          </a:prstGeom>
          <a:noFill/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926080" y="2926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926080" y="3520440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1A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total_spend, purchase frequency, unit mix, loan/investment/company flags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1920240"/>
            <a:ext cx="2103120" cy="4114800"/>
          </a:xfrm>
          <a:prstGeom prst="roundRect">
            <a:avLst>
              <a:gd name="adj" fmla="val 3913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166360" y="2103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D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166360" y="2788920"/>
            <a:ext cx="1645920" cy="0"/>
          </a:xfrm>
          <a:prstGeom prst="line">
            <a:avLst/>
          </a:prstGeom>
          <a:noFill/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166360" y="2926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&amp; Cluster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166360" y="3520440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1A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StandardScaler + K-Means, evaluated k=2..10 via Elbow + Silhouette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69480" y="1920240"/>
            <a:ext cx="2103120" cy="4114800"/>
          </a:xfrm>
          <a:prstGeom prst="roundRect">
            <a:avLst>
              <a:gd name="adj" fmla="val 3913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406640" y="2103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B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7406640" y="2788920"/>
            <a:ext cx="1645920" cy="0"/>
          </a:xfrm>
          <a:prstGeom prst="line">
            <a:avLst/>
          </a:prstGeom>
          <a:noFill/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406640" y="2926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406640" y="3520440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1A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(Ward) clustering cross-check via Adjusted Rand Index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509760" y="1920240"/>
            <a:ext cx="2103120" cy="4114800"/>
          </a:xfrm>
          <a:prstGeom prst="roundRect">
            <a:avLst>
              <a:gd name="adj" fmla="val 3913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646920" y="2103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87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28" name="Shape 26"/>
          <p:cNvSpPr/>
          <p:nvPr/>
        </p:nvSpPr>
        <p:spPr>
          <a:xfrm>
            <a:off x="9646920" y="2788920"/>
            <a:ext cx="1645920" cy="0"/>
          </a:xfrm>
          <a:prstGeom prst="line">
            <a:avLst/>
          </a:prstGeom>
          <a:noFill/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646920" y="2926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Stress-Test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9646920" y="3520440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1A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random seeds, 10x 80% bootstrap resamples, feature-correlation audit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Chart Answers a Specific Business Question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005840" cy="0"/>
          </a:xfrm>
          <a:prstGeom prst="line">
            <a:avLst/>
          </a:prstGeom>
          <a:noFill/>
          <a:ln w="31750">
            <a:solidFill>
              <a:srgbClr val="4F7CF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874520"/>
            <a:ext cx="3611880" cy="3200400"/>
          </a:xfrm>
          <a:prstGeom prst="roundRect">
            <a:avLst>
              <a:gd name="adj" fmla="val 2571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pic>
        <p:nvPicPr>
          <p:cNvPr id="6" name="Image 0" descr="/home/claude/real_estate_project/outputs/figures/q2_investment_by_client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11680"/>
            <a:ext cx="3337560" cy="2926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297680" y="1874520"/>
            <a:ext cx="3611880" cy="3200400"/>
          </a:xfrm>
          <a:prstGeom prst="roundRect">
            <a:avLst>
              <a:gd name="adj" fmla="val 2571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pic>
        <p:nvPicPr>
          <p:cNvPr id="8" name="Image 1" descr="/home/claude/real_estate_project/outputs/figures/q4_loan_by_clientty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011680"/>
            <a:ext cx="3337560" cy="29260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046720" y="1874520"/>
            <a:ext cx="3611880" cy="3200400"/>
          </a:xfrm>
          <a:prstGeom prst="roundRect">
            <a:avLst>
              <a:gd name="adj" fmla="val 2571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pic>
        <p:nvPicPr>
          <p:cNvPr id="10" name="Image 2" descr="/home/claude/real_estate_project/outputs/figures/country_distribu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2011680"/>
            <a:ext cx="3337560" cy="292608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48640" y="525780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12" name="Text 7"/>
          <p:cNvSpPr/>
          <p:nvPr/>
        </p:nvSpPr>
        <p:spPr>
          <a:xfrm>
            <a:off x="868680" y="525780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1A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base is 76.9% USA (1,538 of 2,000) — country-level comparisons for the smallest markets (Denmark, n=15) are statistically noisy and reported as indicative only, not confident.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SELECTION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K: Elbow, Silhouette &amp; Hierarchical Validation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1A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k=4 selected — not the silhouette-optimal k=3, and here's why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005840" cy="0"/>
          </a:xfrm>
          <a:prstGeom prst="line">
            <a:avLst/>
          </a:prstGeom>
          <a:noFill/>
          <a:ln w="31750">
            <a:solidFill>
              <a:srgbClr val="4F7CF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1874520"/>
            <a:ext cx="6858000" cy="2880360"/>
          </a:xfrm>
          <a:prstGeom prst="roundRect">
            <a:avLst>
              <a:gd name="adj" fmla="val 2857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pic>
        <p:nvPicPr>
          <p:cNvPr id="7" name="Image 0" descr="/home/claude/real_estate_project/outputs/figures/elbow_silhouet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65960"/>
            <a:ext cx="6583680" cy="2697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543800" y="1874520"/>
            <a:ext cx="4069080" cy="2880360"/>
          </a:xfrm>
          <a:prstGeom prst="roundRect">
            <a:avLst>
              <a:gd name="adj" fmla="val 2857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818120" y="210312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Silhouette peaks at k=3 (0.145)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91A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...but is nearly flat from k=3 to k=8 — no sharp natural cluster structure exists.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k=4 chosen anyway: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150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Isolates Corporate Buyers as their own distinct segment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150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disclosed business-interpretability judgment call</a:t>
            </a:r>
            <a:endParaRPr lang="en-US" sz="1350" dirty="0"/>
          </a:p>
          <a:p>
            <a:pPr marL="342900" indent="-342900">
              <a:buSzPct val="100000"/>
              <a:buChar char="▸"/>
            </a:pPr>
            <a:r>
              <a:rPr lang="en-US" sz="1150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Cross-validated vs Hierarchical: ARI = 0.267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4892040"/>
            <a:ext cx="11064240" cy="1737360"/>
          </a:xfrm>
          <a:prstGeom prst="roundRect">
            <a:avLst>
              <a:gd name="adj" fmla="val 4737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/home/claude/real_estate_project/outputs/figures/dendrog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983480"/>
            <a:ext cx="1078992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Buyer Segments — Derived From the Data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1A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forced into the brief's assumed labels (Global Investors / First-Time Buyers / Luxury Investors)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005840" cy="0"/>
          </a:xfrm>
          <a:prstGeom prst="line">
            <a:avLst/>
          </a:prstGeom>
          <a:noFill/>
          <a:ln w="31750">
            <a:solidFill>
              <a:srgbClr val="4F7CF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1920240"/>
            <a:ext cx="2606040" cy="4160520"/>
          </a:xfrm>
          <a:prstGeom prst="roundRect">
            <a:avLst>
              <a:gd name="adj" fmla="val 3158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48640" y="1920240"/>
            <a:ext cx="2606040" cy="73152"/>
          </a:xfrm>
          <a:prstGeom prst="rect">
            <a:avLst/>
          </a:prstGeom>
          <a:solidFill>
            <a:srgbClr val="4F7C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21488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Value-Conscious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Buyers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85800" y="29260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F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85800" y="37033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1A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 of clients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14400" y="4206240"/>
            <a:ext cx="1874520" cy="0"/>
          </a:xfrm>
          <a:prstGeom prst="line">
            <a:avLst/>
          </a:prstGeom>
          <a:noFill/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7240" y="434340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spend/price among individuals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37560" y="1920240"/>
            <a:ext cx="2606040" cy="4160520"/>
          </a:xfrm>
          <a:prstGeom prst="roundRect">
            <a:avLst>
              <a:gd name="adj" fmla="val 3158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337560" y="1920240"/>
            <a:ext cx="2606040" cy="73152"/>
          </a:xfrm>
          <a:prstGeom prst="rect">
            <a:avLst/>
          </a:prstGeom>
          <a:solidFill>
            <a:srgbClr val="20D3A2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474720" y="21488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High-Volume /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Frequent Buyers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474720" y="29260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0D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474720" y="37033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1A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 of clients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703320" y="4206240"/>
            <a:ext cx="1874520" cy="0"/>
          </a:xfrm>
          <a:prstGeom prst="line">
            <a:avLst/>
          </a:prstGeom>
          <a:noFill/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566160" y="434340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purchase frequency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1920240"/>
            <a:ext cx="2606040" cy="4160520"/>
          </a:xfrm>
          <a:prstGeom prst="roundRect">
            <a:avLst>
              <a:gd name="adj" fmla="val 3158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126480" y="1920240"/>
            <a:ext cx="2606040" cy="73152"/>
          </a:xfrm>
          <a:prstGeom prst="rect">
            <a:avLst/>
          </a:prstGeom>
          <a:solidFill>
            <a:srgbClr val="FFB340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263640" y="21488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/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High-Value Buyers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263640" y="29260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B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446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263640" y="37033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1A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 of clients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92240" y="4206240"/>
            <a:ext cx="1874520" cy="0"/>
          </a:xfrm>
          <a:prstGeom prst="line">
            <a:avLst/>
          </a:prstGeom>
          <a:noFill/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355080" y="434340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average purchase price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915400" y="1920240"/>
            <a:ext cx="2606040" cy="4160520"/>
          </a:xfrm>
          <a:prstGeom prst="roundRect">
            <a:avLst>
              <a:gd name="adj" fmla="val 3158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8915400" y="1920240"/>
            <a:ext cx="2606040" cy="73152"/>
          </a:xfrm>
          <a:prstGeom prst="rect">
            <a:avLst/>
          </a:prstGeom>
          <a:solidFill>
            <a:srgbClr val="A875FF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052560" y="21488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9052560" y="29260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87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9052560" y="37033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1A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 of clients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281160" y="4206240"/>
            <a:ext cx="1874520" cy="0"/>
          </a:xfrm>
          <a:prstGeom prst="line">
            <a:avLst/>
          </a:prstGeom>
          <a:noFill/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9144000" y="434340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clients, distinct B2B motion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INTEGRITY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 &amp; Stability — Tested, Not Assumed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1A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a clustering result is only as trustworthy as its stress test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005840" cy="0"/>
          </a:xfrm>
          <a:prstGeom prst="line">
            <a:avLst/>
          </a:prstGeom>
          <a:noFill/>
          <a:ln w="31750">
            <a:solidFill>
              <a:srgbClr val="4F7CF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1920240"/>
            <a:ext cx="6400800" cy="4160520"/>
          </a:xfrm>
          <a:prstGeom prst="roundRect">
            <a:avLst>
              <a:gd name="adj" fmla="val 1978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2148840"/>
            <a:ext cx="5852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 strategies tested: </a:t>
            </a:r>
            <a:endParaRPr lang="en-US" sz="13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"Balanced behavior" strategy scores higher (0.172 vs 0.140) but merges Corporate Buyers into individuals — rejected despite the better score.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stability (6 random seeds): </a:t>
            </a:r>
            <a:endParaRPr lang="en-US" sz="13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bimodal, not uniform — two distinct stable solutions exist (ARI=1.0 within each, ARI≈0.52 between them). Production's seed falls in the 4-of-6 majority group.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bootstrap resampling: </a:t>
            </a:r>
            <a:endParaRPr lang="en-US" sz="13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 ranges from 0.26 to 0.96 vs. the full model — highly variable, disclosed as such rather than hidden behind one mean.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Brief's literal encoding, tested directly: 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numerically higher (0.41) but its top cluster is a trivial reproduction of the existing client_type column — not real structure.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223760" y="1920240"/>
            <a:ext cx="4389120" cy="4160520"/>
          </a:xfrm>
          <a:prstGeom prst="roundRect">
            <a:avLst>
              <a:gd name="adj" fmla="val 1978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223760" y="1920240"/>
            <a:ext cx="73152" cy="4160520"/>
          </a:xfrm>
          <a:prstGeom prst="rect">
            <a:avLst/>
          </a:prstGeom>
          <a:solidFill>
            <a:srgbClr val="F05CFF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543800" y="2148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0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43800" y="260604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total_purchases ↔ n_towers correlate at 0.93. avg_purchase_price ↔ avg_floor_area correlate at 0.96. Five of nine clustering features encode the same "transaction scale" dimension — exactly why segments separate by spend/volume, not financing intent.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543800" y="475488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91A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honestly in the research paper and dashboard rather than optimized away — a defensible model, not a perfect one.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Streamlit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1A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pages — live filtering by country, region, purpose, client type, segment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005840" cy="0"/>
          </a:xfrm>
          <a:prstGeom prst="line">
            <a:avLst/>
          </a:prstGeom>
          <a:noFill/>
          <a:ln w="31750">
            <a:solidFill>
              <a:srgbClr val="4F7CF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1874520"/>
            <a:ext cx="5349240" cy="1005840"/>
          </a:xfrm>
          <a:prstGeom prst="roundRect">
            <a:avLst>
              <a:gd name="adj" fmla="val 8182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48640" y="1874520"/>
            <a:ext cx="64008" cy="1005840"/>
          </a:xfrm>
          <a:prstGeom prst="rect">
            <a:avLst/>
          </a:prstGeom>
          <a:solidFill>
            <a:srgbClr val="4F7C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965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F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Overview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77240" y="235000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A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cards, segment distribution, total-spend breakdown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874520"/>
            <a:ext cx="5349240" cy="1005840"/>
          </a:xfrm>
          <a:prstGeom prst="roundRect">
            <a:avLst>
              <a:gd name="adj" fmla="val 8182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080760" y="1874520"/>
            <a:ext cx="64008" cy="1005840"/>
          </a:xfrm>
          <a:prstGeom prst="rect">
            <a:avLst/>
          </a:prstGeom>
          <a:solidFill>
            <a:srgbClr val="20D9F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1965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Segmentation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309360" y="235000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A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comparison across age, purpose, loan behavior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044952"/>
            <a:ext cx="5349240" cy="1005840"/>
          </a:xfrm>
          <a:prstGeom prst="roundRect">
            <a:avLst>
              <a:gd name="adj" fmla="val 8182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48640" y="3044952"/>
            <a:ext cx="64008" cy="1005840"/>
          </a:xfrm>
          <a:prstGeom prst="rect">
            <a:avLst/>
          </a:prstGeom>
          <a:solidFill>
            <a:srgbClr val="20D3A2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7240" y="313639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D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Intelligence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77240" y="35204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A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Country-level choropleth map (ISO-3 coded)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3044952"/>
            <a:ext cx="5349240" cy="1005840"/>
          </a:xfrm>
          <a:prstGeom prst="roundRect">
            <a:avLst>
              <a:gd name="adj" fmla="val 8182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080760" y="3044952"/>
            <a:ext cx="64008" cy="1005840"/>
          </a:xfrm>
          <a:prstGeom prst="rect">
            <a:avLst/>
          </a:prstGeom>
          <a:solidFill>
            <a:srgbClr val="FFB340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309360" y="313639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B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Profiling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309360" y="35204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A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vs home-use, referral-channel analysis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215384"/>
            <a:ext cx="5349240" cy="1005840"/>
          </a:xfrm>
          <a:prstGeom prst="roundRect">
            <a:avLst>
              <a:gd name="adj" fmla="val 8182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48640" y="4215384"/>
            <a:ext cx="64008" cy="1005840"/>
          </a:xfrm>
          <a:prstGeom prst="rect">
            <a:avLst/>
          </a:prstGeom>
          <a:solidFill>
            <a:srgbClr val="A875FF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77240" y="430682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87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Insights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77240" y="469087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A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Per-segment KPIs, characteristics, recommended actions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80760" y="4215384"/>
            <a:ext cx="5349240" cy="1005840"/>
          </a:xfrm>
          <a:prstGeom prst="roundRect">
            <a:avLst>
              <a:gd name="adj" fmla="val 8182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080760" y="4215384"/>
            <a:ext cx="64008" cy="1005840"/>
          </a:xfrm>
          <a:prstGeom prst="rect">
            <a:avLst/>
          </a:prstGeom>
          <a:solidFill>
            <a:srgbClr val="F05CFF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309360" y="430682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Explorer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309360" y="469087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A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client drill-down with CSV export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385816"/>
            <a:ext cx="5349240" cy="1005840"/>
          </a:xfrm>
          <a:prstGeom prst="roundRect">
            <a:avLst>
              <a:gd name="adj" fmla="val 8182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548640" y="5385816"/>
            <a:ext cx="64008" cy="1005840"/>
          </a:xfrm>
          <a:prstGeom prst="rect">
            <a:avLst/>
          </a:prstGeom>
          <a:solidFill>
            <a:srgbClr val="4F7CFF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77240" y="547725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F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Information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77240" y="586130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A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Methodology, silhouette/ARI, robustness disclosure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— Translating Clusters Into a Playbook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005840" cy="0"/>
          </a:xfrm>
          <a:prstGeom prst="line">
            <a:avLst/>
          </a:prstGeom>
          <a:noFill/>
          <a:ln w="31750">
            <a:solidFill>
              <a:srgbClr val="4F7CF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77240" y="2148840"/>
            <a:ext cx="457200" cy="457200"/>
          </a:xfrm>
          <a:prstGeom prst="ellipse">
            <a:avLst/>
          </a:prstGeom>
          <a:solidFill>
            <a:srgbClr val="A875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029968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7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Buyers (5%)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2029968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to a dedicated B2B sales team with bulk/multi-unit packages, not the retail funnel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240" y="3200400"/>
            <a:ext cx="457200" cy="457200"/>
          </a:xfrm>
          <a:prstGeom prst="ellipse">
            <a:avLst/>
          </a:prstGeom>
          <a:solidFill>
            <a:srgbClr val="20D3A2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72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3081528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D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High-Volume Buyers (32%)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3081528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 &amp; portfolio incentives, early access to new listings — outsized transaction volume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FB340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724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133088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Buyers (22%)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4133088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with exclusivity and white-glove service, not price discounts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77240" y="5303520"/>
            <a:ext cx="457200" cy="457200"/>
          </a:xfrm>
          <a:prstGeom prst="ellipse">
            <a:avLst/>
          </a:prstGeom>
          <a:solidFill>
            <a:srgbClr val="4F7CFF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77240" y="5303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5184648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Value-Conscious Buyers (41%)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0" y="5184648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Affordability messaging, starter-buyer financing packages — the largest segment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1A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 carried into every recommendation: no campaign-response/ROI data exists — these are testable hypotheses from behavioral clustering, not proven causal claims.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INTELLECTUAL HONESTY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— Stated Plainly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1A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technical interviewer would ask, answered before they ask 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005840" cy="0"/>
          </a:xfrm>
          <a:prstGeom prst="line">
            <a:avLst/>
          </a:prstGeom>
          <a:noFill/>
          <a:ln w="31750">
            <a:solidFill>
              <a:srgbClr val="4F7CF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48640" y="1874520"/>
            <a:ext cx="64008" cy="749808"/>
          </a:xfrm>
          <a:prstGeom prst="rect">
            <a:avLst/>
          </a:prstGeom>
          <a:solidFill>
            <a:srgbClr val="FFB34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874520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Modest separation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1874520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Silhouette 0.12–0.15: buyer behavior varies continuously, not in sharp groups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48640" y="2743200"/>
            <a:ext cx="64008" cy="749808"/>
          </a:xfrm>
          <a:prstGeom prst="rect">
            <a:avLst/>
          </a:prstGeom>
          <a:solidFill>
            <a:srgbClr val="F05CF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2743200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Bimodal stability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743200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testing found two distinct stable solutions, not one robust answer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48640" y="3611880"/>
            <a:ext cx="64008" cy="749808"/>
          </a:xfrm>
          <a:prstGeom prst="rect">
            <a:avLst/>
          </a:prstGeom>
          <a:solidFill>
            <a:srgbClr val="A875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3611880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7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skew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3611880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76.9% of clients are USA-based; small-country comparisons are statistically noisy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480560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48640" y="4480560"/>
            <a:ext cx="64008" cy="749808"/>
          </a:xfrm>
          <a:prstGeom prst="rect">
            <a:avLst/>
          </a:prstGeom>
          <a:solidFill>
            <a:srgbClr val="4F7CFF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2960" y="4480560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correlation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4480560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of 9 clustering features are highly intercorrelated around "transaction scale"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349240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0B1930"/>
          </a:solidFill>
          <a:ln w="12700">
            <a:solidFill>
              <a:srgbClr val="17436F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48640" y="5349240"/>
            <a:ext cx="64008" cy="749808"/>
          </a:xfrm>
          <a:prstGeom prst="rect">
            <a:avLst/>
          </a:prstGeom>
          <a:solidFill>
            <a:srgbClr val="20D9FF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22960" y="5349240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ROI data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0" y="5349240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marketing-response data exists to validate recommendation ROI directly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371600"/>
            <a:ext cx="5486400" cy="5486400"/>
          </a:xfrm>
          <a:prstGeom prst="ellipse">
            <a:avLst/>
          </a:prstGeom>
          <a:solidFill>
            <a:srgbClr val="4F7CFF">
              <a:alpha val="12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A875FF">
              <a:alpha val="12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8640" y="50292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4F7CF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70432" y="5303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658368" y="3108960"/>
            <a:ext cx="1280160" cy="0"/>
          </a:xfrm>
          <a:prstGeom prst="line">
            <a:avLst/>
          </a:prstGeom>
          <a:noFill/>
          <a:ln w="38100">
            <a:solidFill>
              <a:srgbClr val="4F7C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333756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1A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pipeline, research paper, Streamlit dashboard, and this deck are all in the project repository — every number here traces back to code you can re-run.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Learning-Based Buyer Segmentation and Investment Profiling  |  Parcl Co. Limited  |  Unified Mentor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2026-09-14T06:39:32Z</dcterms:created>
  <dcterms:modified xsi:type="dcterms:W3CDTF">2026-09-14T06:39:32Z</dcterms:modified>
</cp:coreProperties>
</file>